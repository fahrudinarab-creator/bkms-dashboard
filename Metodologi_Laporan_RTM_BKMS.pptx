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88920"/>
            <a:ext cx="2011680" cy="38100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CCD8"/>
                </a:solidFill>
                <a:latin typeface="Calibri"/>
              </a:rPr>
              <a:t>PANDUAN METODOLOGI PERHITUNGAN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Laporan RTM PT. BKMS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7CCD8"/>
                </a:solidFill>
                <a:latin typeface="Calibri"/>
              </a:rPr>
              <a:t>Cara Mendapatkan Angka Sesuai Data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AA2B5"/>
                </a:solidFill>
                <a:latin typeface="Calibri"/>
              </a:rPr>
              <a:t>Dokumen ini menjelaskan formula &amp; sumber data setiap metrik di laporan PPTX RTM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STRUKTUR DATA SUMBER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91440"/>
            <a:ext cx="3108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>
                <a:solidFill>
                  <a:srgbClr val="C7CCD8"/>
                </a:solidFill>
              </a:rPr>
              <a:t>Panduan Metodologi ·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📁 4 File Data Utama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52728"/>
            <a:ext cx="11430000" cy="27432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931920"/>
                <a:gridCol w="54864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File</a:t>
                      </a:r>
                    </a:p>
                  </a:txBody>
                  <a:tcPr marT="38100" marB="38100" marL="76200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Isi</a:t>
                      </a:r>
                    </a:p>
                  </a:txBody>
                  <a:tcPr marT="38100" marB="38100" marL="76200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Kolom Kunci</a:t>
                      </a:r>
                    </a:p>
                  </a:txBody>
                  <a:tcPr marT="38100" marB="38100" marL="76200" anchor="ctr">
                    <a:solidFill>
                      <a:srgbClr val="1A274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data_bkms.csv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Data Realisasi &amp; Budget per Unit per Bulan (Prestasi, Pendapatan, Biaya, dll)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id_unit, lokasi, bulan, kategori (AB/TR), kriteria_unit (Floating Tarif/Tarif Tetap), *_realisasi, *_budget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data_sasaran_mutu.csv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Target &amp; Realisasi Utilisasi, Availability, Downtime per Unit per Bulan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lokasi, jenis_unit, bulan, downtime_pct, downtime_target, utilisasi_pct/target, availability_pct/target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data_maintenance.csv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Rincian Biaya Pemeliharaan per Unit (Rutin/Non-Rutin)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nama_unit, jenis_pemeliharaan (RUTIN/NON RUTIN), kategori_sparepart, biaya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data_mttr.csv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Jurnal Perbaikan Harian dari Workshop (dipakai hitung MTTR)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lokasi, unit, tanggal, jumlah_jam (durasi perbaikan)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4343400"/>
            <a:ext cx="11430000" cy="36576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🔑 Konsep Dasar: Realisasi vs Budget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681728"/>
            <a:ext cx="11430000" cy="27432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Setiap metrik biaya/pendapatan/prestasi di data_bkms.csv punya 2 kolom berpasangan: *_realisasi (angka aktual yang terjadi) dan *_budget (target/anggaran yang direncanakan). Rumus dasar yang berulang di seluruh laporan:
Capaian (%) = (Total Realisasi ÷ Total Budget) × 100%
Untuk metrik BIAYA, Capaian &gt;100% berarti OVER BUDGET (buruk). Untuk metrik PENDAPATAN/PRESTASI/UTILISASI, Capaian &gt;100% berarti MELEBIHI TARGET (baik).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SLIDE 1 RTM: KPI DASHBOARD — Kartu 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91440"/>
            <a:ext cx="3108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>
                <a:solidFill>
                  <a:srgbClr val="C7CCD8"/>
                </a:solidFill>
              </a:rPr>
              <a:t>Panduan Metodologi ·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🎯 5 Kartu KPI Utama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52728"/>
            <a:ext cx="11430000" cy="27432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11430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572000"/>
                <a:gridCol w="42976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Kartu</a:t>
                      </a:r>
                    </a:p>
                  </a:txBody>
                  <a:tcPr marT="38100" marB="38100" marL="76200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Formula</a:t>
                      </a:r>
                    </a:p>
                  </a:txBody>
                  <a:tcPr marT="38100" marB="38100" marL="76200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Catatan Khusus</a:t>
                      </a:r>
                    </a:p>
                  </a:txBody>
                  <a:tcPr marT="38100" marB="38100" marL="76200" anchor="ctr">
                    <a:solidFill>
                      <a:srgbClr val="1A27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Capaian Prestasi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Σ prestasi_realisasi ÷ Σ prestasi_budget × 100%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HANYA unit kriteria_unit = 'Floating Tarif' (Tarif Tetap dikecualikan)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Avg Utilisasi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Rata-rata utilisasi_pct dari data_sasaran_mutu.csv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Dari Sasaran Mutu, unit Floating Tarif saja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Avg Availability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Rata-rata availability_pct dari data_sasaran_mutu.csv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Dari Sasaran Mutu, semua unit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Biaya Langsung / Prestasi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Σ biaya_langsung_realisasi ÷ Σ prestasi_realisasi (Floating Tarif)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Prestasi pembagi = Floating Tarif saja; Biaya Langsung = semua unit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Biaya T.Langsung / Prestasi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Σ biaya_tidak_langsung_realisasi ÷ Σ prestasi_realisasi (Floating Tarif)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Sama seperti di atas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📊 Chart: Capaian Prestasi, Utilisasi &amp; Availability — per Site &amp; Jenis Unit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910328"/>
            <a:ext cx="11430000" cy="27432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0749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Chart batang 3 series (Prestasi/Utilisasi/Availability) menampilkan unit-unit Floating Tarif. Urutan bar dari KIRI ke KANAN: diurutkan berdasarkan Gap Pendapatan (Realisasi−Budget) PALING MINUS dulu — sehingga unit yang disebut di kotak analisa di bawahnya SELALU jadi bar pertama, konsisten dengan fokus insight.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SLIDE 2 RTM: BIAYA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91440"/>
            <a:ext cx="3108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>
                <a:solidFill>
                  <a:srgbClr val="C7CCD8"/>
                </a:solidFill>
              </a:rPr>
              <a:t>Panduan Metodologi ·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💰 Tabel Ringkasan Biaya PT. BKMS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52728"/>
            <a:ext cx="11430000" cy="27432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11430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229600"/>
              </a:tblGrid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Kolom</a:t>
                      </a:r>
                    </a:p>
                  </a:txBody>
                  <a:tcPr marT="38100" marB="38100" marL="76200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Formula</a:t>
                      </a:r>
                    </a:p>
                  </a:txBody>
                  <a:tcPr marT="38100" marB="38100" marL="76200" anchor="ctr">
                    <a:solidFill>
                      <a:srgbClr val="1A2744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Budget / Aktual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Σ *_budget atau Σ *_realisasi per komponen (Total Biaya, Maintenance, BBM, Upah, Lainnya)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Capaian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Aktual ÷ Budget × 100%  (untuk kolom biaya: &gt;100% = OVER BUDGET, ditandai merah)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Cap. Fisik — Total Biaya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= Capaian Prestasi (Floating Tarif) — menunjukkan apakah kenaikan biaya sejalan dgn kenaikan prestasi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Cap. Fisik — Biaya Maintenance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= Capaian Downtime (Realisasi ÷ Target Downtime, dari Sasaran Mutu)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Cap. Fisik — Biaya BBM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= Capaian Qty BBM (Qty Realisasi ÷ Qty Budget) — murni volume liter, bukan nilai Rupiah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Upah Operator / Biaya Lainnya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Tidak ada Cap. Fisik (ditampilkan '-')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📋 Tabel BTL (Biaya Tidak Langsung) per Site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910328"/>
            <a:ext cx="11430000" cy="27432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0749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% Target = Aktual ÷ Budget BTL per site × 100%.  % BTL = kontribusi BTL site tsb thd Total BTL keseluruhan.
Kotak status di atas tabel otomatis menyimpulkan: 'UNDER BUDGET' (hijau) kalau semua site ≤100%, atau menyebutkan site mana saja yang OVER (merah) sebagai pengecualian.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SLIDE 3 RTM: ANALISIS BIAYA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91440"/>
            <a:ext cx="3108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>
                <a:solidFill>
                  <a:srgbClr val="C7CCD8"/>
                </a:solidFill>
              </a:rPr>
              <a:t>Panduan Metodologi ·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📉 Chart Kiri: Gap Biaya Maintenance (Realisasi vs Budget)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52728"/>
            <a:ext cx="11430000" cy="27432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686800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Elemen</a:t>
                      </a:r>
                    </a:p>
                  </a:txBody>
                  <a:tcPr marT="38100" marB="38100" marL="76200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Formula / Aturan</a:t>
                      </a:r>
                    </a:p>
                  </a:txBody>
                  <a:tcPr marT="38100" marB="38100" marL="76200" anchor="ctr">
                    <a:solidFill>
                      <a:srgbClr val="1A274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Nilai bar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Gap = Biaya Maintenance Realisasi − Budget, per (Site, Jenis Unit)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Warna bar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Merah = Gap positif (OVER budget). Teal = Gap negatif (under/hemat)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Arah bar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Naik ke atas dari garis nol = over. Turun ke bawah = under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Label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Diputar vertikal (shape.rotation) — reliable di semua PowerPoint, beda dari rotasi data-label chart native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Kotak analisa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Menyorot unit dgn Gap Rupiah OVER BUDGET TERBESAR (bukan % tertinggi) — selalu jadi bar pertama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📊 Chart Kanan: Rekap Maintenance Rutin vs Non-Rutin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453128"/>
            <a:ext cx="11430000" cy="27432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Data dari data_maintenance.csv, dikelompokkan per (Site, Jenis Unit) berdasarkan kolom jenis_pemeliharaan (RUTIN / NON RUTIN). Bar stacked menunjukkan proporsi %. Badge 'Cap. Downtime' di kolom kanan diambil dari data_sasaran_mutu.csv (dicocokkan via Site + Jenis Unit) — hijau jika dalam target, merah jika over.
Non-Rutin &gt;40% ditandai warna merah pada bar (indikasi preventive maintenance kurang optimal).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SLIDE 4 RTM: KEY INSIGHTS DOWNTIME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91440"/>
            <a:ext cx="3108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>
                <a:solidFill>
                  <a:srgbClr val="C7CCD8"/>
                </a:solidFill>
              </a:rPr>
              <a:t>Panduan Metodologi ·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🎯 3 Kartu KPI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52728"/>
            <a:ext cx="11430000" cy="27432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11430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2296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Kartu</a:t>
                      </a:r>
                    </a:p>
                  </a:txBody>
                  <a:tcPr marT="38100" marB="38100" marL="76200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Formula</a:t>
                      </a:r>
                    </a:p>
                  </a:txBody>
                  <a:tcPr marT="38100" marB="38100" marL="76200" anchor="ctr">
                    <a:solidFill>
                      <a:srgbClr val="1A27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% Capaian Realisasi Downtime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Rata-rata downtime_pct ÷ Rata-rata downtime_target (Sasaran Mutu) × 100%. Nilai kosong (NaN) dianggap 0%, bukan diabaikan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MTTR (Mean Time To Repair)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Total jumlah_jam ÷ Total kejadian perbaikan, dari data_mttr.csv</a:t>
                      </a:r>
                    </a:p>
                  </a:txBody>
                  <a:tcPr marT="38100" marB="38100" marL="76200" anchor="ctr">
                    <a:solidFill>
                      <a:srgbClr val="F5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Maintenance Rutin vs Non-Rutin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</a:rPr>
                        <a:t>% dari Total Biaya Maintenance per jenis_pemeliharaan, dari data_maintenance.csv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3566160"/>
            <a:ext cx="5532120" cy="36576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📊 Chart: % Downtime per Site &amp; Jenis Unit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904487"/>
            <a:ext cx="5532120" cy="27432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Bar chart Capaian Downtime tiap unit, diurutkan dari TERTINGGI ke TERENDAH. Warna merah = over target, hijau = dalam target. Kotak analisa di bawah otomatis menyebutkan berapa dari total unit yang melebihi target, dan unit paling kritis.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566160"/>
            <a:ext cx="5532120" cy="36576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📋 Tabel: Kategori Sparepart — Nilai Tertinggi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904487"/>
            <a:ext cx="5532120" cy="27432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06908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Top 2 kategori_sparepart (dari data_maintenance.csv) dgn Total Biaya tertinggi, dipecah per site (kolom terpisah) + kolom Total (bold, warna emas).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ATURAN KHUSUS &amp; PENGECUALIAN PENTING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91440"/>
            <a:ext cx="3108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>
                <a:solidFill>
                  <a:srgbClr val="C7CCD8"/>
                </a:solidFill>
              </a:rPr>
              <a:t>Panduan Metodologi ·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200" b="1">
                <a:solidFill>
                  <a:srgbClr val="FFFFFF"/>
                </a:solidFill>
              </a:rPr>
              <a:t>⚠️ Aturan yang Berlaku di Seluruh Laporan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52728"/>
            <a:ext cx="11430000" cy="27432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114300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4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l"/>
            <a:r>
              <a:rPr sz="1250" b="1">
                <a:solidFill>
                  <a:srgbClr val="D94A3D"/>
                </a:solidFill>
              </a:rPr>
              <a:t>● Mining = Alat Berat semua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Site TANJUNG, BUHUT, BUHUT LHL, AMPAH — kategori TR digabung/dianggap AB. Berlaku di SELURUH chart &amp; tabel.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423160"/>
            <a:ext cx="114300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4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l"/>
            <a:r>
              <a:rPr sz="1250" b="1">
                <a:solidFill>
                  <a:srgbClr val="D94A3D"/>
                </a:solidFill>
              </a:rPr>
              <a:t>● Unit kosong disaring otomatis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Unit dgn Realisasi DAN Budget sama-sama 0 di semua kolom otomatis dikeluarkan dari dashboard, download, &amp; PPT. AMPAH DIKECUALIKAN dari aturan ini (site belum beroperasi).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474720"/>
            <a:ext cx="114300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l"/>
            <a:r>
              <a:rPr sz="1250" b="1">
                <a:solidFill>
                  <a:srgbClr val="C98A1E"/>
                </a:solidFill>
              </a:rPr>
              <a:t>● Prestasi = Floating Tarif saja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Untuk Capaian Prestasi &amp; rasio Biaya/Prestasi — unit Tarif Tetap dikecualikan (pendapatannya flat, tdk berbasis KM/HM).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526279"/>
            <a:ext cx="114300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l"/>
            <a:r>
              <a:rPr sz="1250" b="1">
                <a:solidFill>
                  <a:srgbClr val="C98A1E"/>
                </a:solidFill>
              </a:rPr>
              <a:t>● downtime_pct kosong = 0%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Baris kosong (NaN) pada Realisasi Downtime dianggap 0% (tidak pernah downtime), bukan diabaikan dari rata-rata — mencegah bias krn cuma 1-2 data terisi.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577840"/>
            <a:ext cx="114300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7A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l"/>
            <a:r>
              <a:rPr sz="1250" b="1">
                <a:solidFill>
                  <a:srgbClr val="17A9C7"/>
                </a:solidFill>
              </a:rPr>
              <a:t>● Kedua Divisi dipilih → 3 blok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Kalau Plantation &amp; Mining dipilih sekaligus: Slide 1-4 Plantation-TR, 5-8 Plantation-AB, 9-12 Mining (selalu AB).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